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AÇILIŞ: 'Yolladığınız 8 numuneyi, verdiğiniz adetlerle (4/16/3/15/1/3/3/3 = 48 parça) geliştirdiğimiz pipeline'dan geçirdim. Baseline 180 mm'ye istifledi; Simulated Annealing bunu 155 mm'ye indirdi.'</a:t>
            </a:r>
          </a:p>
          <a:p>
            <a:r>
              <a:t>170 mm KARŞILAŞTIRMASI: hocanın en iyisi 170 mm ise bizim 155 mm %8.8 daha iyi — ama önce koşulları teyit et: aynı tabla boyutu mu, parça arası boşluk var mıydı? Teyitsiz 'geçtik' deme; 'aynı koşullardaysa 15 mm öndeyiz' 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'Sekiz numunenin gerçek boyutları bunlar — en büyüğü 304.8 milimetrelik şerit, üç tanesi de 230'a 180'lik delikli plakalar. Bu yüzden tabanı 350'ye 350 aldım; sizin tablanız farklıysa tek parametreyle yeniden koşuyorum.'</a:t>
            </a:r>
          </a:p>
          <a:p>
            <a:r>
              <a:t>SORULURSA (neden 350?): 304.8 mm'lik parça 220'ye sığmıyor; 350 hem onu hem plakaları rahat alıyor. Tabla boyutu --plate parametresi, tek komutla değişir.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'Algoritma tarafında hiçbir şey değişmedi — değişen tek şey girdi: sentetik üç model yerine sizin sekiz numuneniz. Tek teknik ekleme voxelization hızlandırması oldu; gerçek STL'ler çok yoğun üçgenli olduğu için eski yöntem hem yavaştı hem ince plakaları şişiriyordu.'</a:t>
            </a:r>
          </a:p>
          <a:p>
            <a:r>
              <a:t>Bu slayt 'pipeline gerçek veriye dayandı mı' sorusunun cevabı: evet, dokunmadan.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'Baseline bir saniyede 48 parçayı 180 milimetreye istifledi. Yerleşim mantıklı görünüyor — plakalar altta, küçükler arada — ama sıralama kararları greedy: hangi plakanın hangi katmana gideceği optimize edilmiyor.'</a:t>
            </a:r>
          </a:p>
          <a:p>
            <a:r>
              <a:t>Density neden düşük (0.102)? Zarf hacmi tüm 350×350×180 prizması; plakalar arası hava da sayılıyor. Bu metrik karşılaştırma için anlamlı, mutlak değer için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'SA aynı parçaları 155 milimetreye indirdi — 25 milimetre, yüzde 14 kazanç. Bu, şimdiye kadarki en büyük SA kazancımız: sentetik setlerde 3-4 milimetreydi.'</a:t>
            </a:r>
          </a:p>
          <a:p>
            <a:r>
              <a:t>NEDEN GERÇEK PARÇALARDA DAHA ÇOK KAZANIYOR? Büyük delikli plakaların istif sırası ve duruşu çok kritik; greedy'nin erken hataları pahalı. SA sıra+duruş uzayında arama yapınca bu hatalar düzeliyor — yani SA katmanı tam da gerçek veride değer üretiyor.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'Tabloda üç satır var: baseline 180, SA 155, sizin söylediğiniz en iyi 170. Aynı koşullarda konuşuyorsak SA çözümü 15 milimetre — yüzde 9 — daha alçak.'</a:t>
            </a:r>
          </a:p>
          <a:p>
            <a:r>
              <a:t>MUTLAKA SOR: 170'i hangi tablada, parça arası boşlukla mı almıştınız? Koşullar farklıysa aynı koşulları --plate/--margin parametreleriyle birebir kurup yeniden koşabilirim — pipeline parametrik.</a:t>
            </a:r>
          </a:p>
          <a:p>
            <a:r>
              <a:t>Voxel notu: bizim rakam yukarı yuvarlanmış; gerçek geometrik tepe 155'in de altında.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'Solda baseline, sağda SA — aynı parçalar, aynı taban. Alttaki çubuklar iki metriği özetliyor: yükseklik 180'den 155'e iniyor, density 0.102'den 0.118'e çıkıyor.'</a:t>
            </a:r>
          </a:p>
          <a:p>
            <a:r>
              <a:t>Görselde fark nereden geliyor? SA, plaka istif sırasını ve bazı parçaların duruşunu değiştirerek katman sayısını azaltıyor — tek büyük hamle değil, kombinasyon kazancı.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'Dürüst okuma: bin iterasyon koştum ama kazancın tamamı ilk altmış iterasyonda geldi. Yani pratik kullanımda yarım dakikalık koşu yetiyor.'</a:t>
            </a:r>
          </a:p>
          <a:p>
            <a:r>
              <a:t>Bu dürüstlük güven kazandırır — 'bin iterasyon şarttı' demek yanlış olurdu. Daha uzun arama/daha ince pitch denenebilir; plato bunun bu çözünürlükteki sınır olduğunu düşündürüyor ama kanıtlamıyor.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'Sonuç sadece görsel değil — STL sahnesi baskıya gidebilecek formatta hazır. Sistemi kullanmak isterseniz tek bat dosyası her şeyi koşuyor; tabla boyutunuzu ve parça arası boşluk kuralınızı söylemeniz yeterli.'</a:t>
            </a:r>
          </a:p>
          <a:p>
            <a:r>
              <a:t>Bu slayt 'hoca algoritmayı kullanmak istiyor' ihtimalinin cevabı: teslim edilebilir durumda.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KAPANIŞ: 'Yolladığınız numunelerin tamamını yerleştirdik: baseline 180, SA 155 milimetre. Sizin 170 milimetrelik referansınızla aynı koşullardaysak 15 milimetre öndeyiz. Koşulları teyit edelim; isterseniz sisteminize aynen kurabilirim.'</a:t>
            </a:r>
          </a:p>
          <a:p>
            <a:r>
              <a:t>Tek soruyla bitir: 170'in tabla boyutu ve boşluk kuralı neydi?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822960"/>
            <a:ext cx="5120640" cy="50292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600" b="1">
                <a:solidFill>
                  <a:srgbClr val="2563EB"/>
                </a:solidFill>
              </a:rPr>
              <a:t>IE 488 — Dönem Projesi · Numune Fazı (Gerçek Parçalar)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293B"/>
                </a:solidFill>
              </a:rPr>
              <a:t>Gerçek Numunelerle 3B Nesting — Sonuç Raporu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017520"/>
            <a:ext cx="10972800" cy="155448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tIns="127000"/>
          <a:lstStyle/>
          <a:p>
            <a:pPr algn="ctr"/>
            <a:r>
              <a:rPr sz="3400" b="1">
                <a:solidFill>
                  <a:srgbClr val="166534"/>
                </a:solidFill>
              </a:rPr>
              <a:t>Z yüksekliği:  180.0 mm  →  155.0 mm</a:t>
            </a:r>
          </a:p>
          <a:p>
            <a:r>
              <a:rPr sz="1800">
                <a:solidFill>
                  <a:srgbClr val="1E293B"/>
                </a:solidFill>
              </a:rPr>
              <a:t>SA kazancı −25.0 mm  (%13.9)   ·   density 0.102 → 0.118   ·   referans: hocanın en iyisi 170 mm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937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64748B"/>
                </a:solidFill>
              </a:rPr>
              <a:t>8 gerçek numune (Numuneler/1..8.stl) · toplam 48 parça · taban 350×350 mm · voxel 2.5 mm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64748B"/>
                </a:solidFill>
              </a:rPr>
              <a:t>STL → slice voxelization → DBLF baseline → Simulated Annealing → .STL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563EB"/>
                </a:solidFill>
              </a:rPr>
              <a:t>Verilen Numuneler — 8 Model, 48 Parça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6858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umun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695" y="1463040"/>
            <a:ext cx="7766304" cy="4160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5760720"/>
            <a:ext cx="10698480" cy="914400"/>
          </a:xfrm>
          <a:prstGeom prst="rect">
            <a:avLst/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/>
          <a:lstStyle/>
          <a:p>
            <a:pPr algn="ctr"/>
            <a:r>
              <a:rPr sz="1300" b="0">
                <a:solidFill>
                  <a:srgbClr val="1E293B"/>
                </a:solidFill>
              </a:rPr>
              <a:t>Gerçek mm boyutları korunarak yüklendi (ölçekleme YOK). En kritik kısıt: 4.stl tam 304.8 mm (12") — 220 mm tabla hiçbir duruşta almıyor → taban 350×350 mm seçildi. Adetler: 1×4 · 2×16 · 3×3 · 4×15 · 5×1 · 6×3 · 7×3 · 8×3.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563EB"/>
                </a:solidFill>
              </a:rPr>
              <a:t>Kurulum — Aynı Pipeline, Gerçek Veri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6858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E293B"/>
                </a:solidFill>
              </a:rPr>
              <a:t>•  Taban 350×350 mm (140×140 hücre grid), voxel boyutu 2.5 mm, 4 eksen-hizalı duruş/parça, parça arası ek boşluk 0.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059659"/>
                </a:solidFill>
              </a:rPr>
              <a:t>•  Yeni: slice voxelization — yüksek üçgen sayılı gerçek STL'lerde (235 bine kadar üçgen) eski yöntem parça başına ~30 sn sürüyor ve ince plakaları ~2.5 kat şişiriyordu; yenisi 0.2 sn ve hacim-doğru.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E293B"/>
                </a:solidFill>
              </a:rPr>
              <a:t>•  Aşama 2'deki algoritmalar DEĞİŞMEDİ: DBLF baseline + SA katmanı aynen kullanıldı — pipeline'ın model-bağımsızlığının testi.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E293B"/>
                </a:solidFill>
              </a:rPr>
              <a:t>•  Doğrulama: 77 birim testi (72 eski + 5 yeni numune testi) geçiyor; seed=42, tekrar-üretilebilir.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212080"/>
            <a:ext cx="10698480" cy="1005840"/>
          </a:xfrm>
          <a:prstGeom prst="rect">
            <a:avLst/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/>
          <a:lstStyle/>
          <a:p>
            <a:pPr algn="ctr"/>
            <a:r>
              <a:rPr sz="1600" b="0">
                <a:solidFill>
                  <a:srgbClr val="1E293B"/>
                </a:solidFill>
              </a:rPr>
              <a:t>Voxel çözünürlüğü 2.5 mm → raporlanan yükseklikler 2.5 mm'lik katmanlara YUKARI yuvarlanmış muhafazakâr değerlerdir (gerçek geometrik tepe bir miktar altında).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563EB"/>
                </a:solidFill>
              </a:rPr>
              <a:t>Yerleşim 1 — DBLF Baseline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6858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sting3d_numu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8760"/>
            <a:ext cx="6858000" cy="533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30936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4748B"/>
                </a:solidFill>
              </a:rPr>
              <a:t>48 parçanın tamamı yerleşti — greedy kural, hacim-azalan sıra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73736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64748B"/>
                </a:solidFill>
              </a:rPr>
              <a:t>Z yüksekliği</a:t>
            </a:r>
          </a:p>
          <a:p>
            <a:pPr>
              <a:spcAft>
                <a:spcPts val="1400"/>
              </a:spcAft>
            </a:pPr>
            <a:r>
              <a:rPr sz="3400" b="1">
                <a:solidFill>
                  <a:srgbClr val="1E293B"/>
                </a:solidFill>
              </a:rPr>
              <a:t>180.0 mm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64748B"/>
                </a:solidFill>
              </a:rPr>
              <a:t>Packing density</a:t>
            </a:r>
          </a:p>
          <a:p>
            <a:pPr>
              <a:spcAft>
                <a:spcPts val="1400"/>
              </a:spcAft>
            </a:pPr>
            <a:r>
              <a:rPr sz="3400" b="1">
                <a:solidFill>
                  <a:srgbClr val="1E293B"/>
                </a:solidFill>
              </a:rPr>
              <a:t>0.102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64748B"/>
                </a:solidFill>
              </a:rPr>
              <a:t>Süre</a:t>
            </a:r>
          </a:p>
          <a:p>
            <a:pPr>
              <a:spcAft>
                <a:spcPts val="1400"/>
              </a:spcAft>
            </a:pPr>
            <a:r>
              <a:rPr sz="2400" b="1">
                <a:solidFill>
                  <a:srgbClr val="64748B"/>
                </a:solidFill>
              </a:rPr>
              <a:t>1.3 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4572000"/>
            <a:ext cx="4206240" cy="1554480"/>
          </a:xfrm>
          <a:prstGeom prst="rect">
            <a:avLst/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/>
          <a:lstStyle/>
          <a:p>
            <a:pPr algn="ctr"/>
            <a:r>
              <a:rPr sz="1400" b="0">
                <a:solidFill>
                  <a:srgbClr val="1E293B"/>
                </a:solidFill>
              </a:rPr>
              <a:t>Büyük plakalar (3/6/7/8) tabanı kaplıyor, küçük parçalar aralara doluyor — ama greedy, plaka istifleme SIRASINI optimize edemiyor.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563EB"/>
                </a:solidFill>
              </a:rPr>
              <a:t>Yerleşim 2 — Simulated Annealing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6858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sting3d_numu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8760"/>
            <a:ext cx="6858000" cy="533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30936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4748B"/>
                </a:solidFill>
              </a:rPr>
              <a:t>Aynı 48 parça — SA'nın bulduğu sıra + duruş kombinasyonu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73736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>
                <a:solidFill>
                  <a:srgbClr val="64748B"/>
                </a:solidFill>
              </a:rPr>
              <a:t>Z yüksekliği</a:t>
            </a:r>
          </a:p>
          <a:p>
            <a:pPr>
              <a:spcAft>
                <a:spcPts val="1400"/>
              </a:spcAft>
            </a:pPr>
            <a:r>
              <a:rPr sz="3400" b="1">
                <a:solidFill>
                  <a:srgbClr val="166534"/>
                </a:solidFill>
              </a:rPr>
              <a:t>155.0 mm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64748B"/>
                </a:solidFill>
              </a:rPr>
              <a:t>Packing density</a:t>
            </a:r>
          </a:p>
          <a:p>
            <a:pPr>
              <a:spcAft>
                <a:spcPts val="1400"/>
              </a:spcAft>
            </a:pPr>
            <a:r>
              <a:rPr sz="3400" b="1">
                <a:solidFill>
                  <a:srgbClr val="166534"/>
                </a:solidFill>
              </a:rPr>
              <a:t>0.118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64748B"/>
                </a:solidFill>
              </a:rPr>
              <a:t>Kazanç (DBLF'e göre)</a:t>
            </a:r>
          </a:p>
          <a:p>
            <a:pPr>
              <a:spcAft>
                <a:spcPts val="1400"/>
              </a:spcAft>
            </a:pPr>
            <a:r>
              <a:rPr sz="2400" b="1">
                <a:solidFill>
                  <a:srgbClr val="059659"/>
                </a:solidFill>
              </a:rPr>
              <a:t>−25.0 mm  (%13.9)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64748B"/>
                </a:solidFill>
              </a:rPr>
              <a:t>Süre</a:t>
            </a:r>
          </a:p>
          <a:p>
            <a:pPr>
              <a:spcAft>
                <a:spcPts val="1400"/>
              </a:spcAft>
            </a:pPr>
            <a:r>
              <a:rPr sz="2400" b="1">
                <a:solidFill>
                  <a:srgbClr val="64748B"/>
                </a:solidFill>
              </a:rPr>
              <a:t>506 s (1000 iterasyon)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563EB"/>
                </a:solidFill>
              </a:rPr>
              <a:t>Karşılaştırma — Rakamlar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6858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9164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554480"/>
                <a:gridCol w="1371600"/>
                <a:gridCol w="338328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Z yüksekliği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Density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Süre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Not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E293B"/>
                          </a:solidFill>
                        </a:rPr>
                        <a:t>DBLF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E293B"/>
                          </a:solidFill>
                        </a:rPr>
                        <a:t>180.0 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E293B"/>
                          </a:solidFill>
                        </a:rPr>
                        <a:t>0.102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E293B"/>
                          </a:solidFill>
                        </a:rPr>
                        <a:t>1.3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E293B"/>
                          </a:solidFill>
                        </a:rPr>
                        <a:t>greedy, hacim-azalan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66534"/>
                          </a:solidFill>
                        </a:rPr>
                        <a:t>SA (1000 iter)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66534"/>
                          </a:solidFill>
                        </a:rPr>
                        <a:t>155.0 mm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66534"/>
                          </a:solidFill>
                        </a:rPr>
                        <a:t>0.118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66534"/>
                          </a:solidFill>
                        </a:rPr>
                        <a:t>506 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66534"/>
                          </a:solidFill>
                        </a:rPr>
                        <a:t>sıra + duruş araması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E293B"/>
                          </a:solidFill>
                        </a:rPr>
                        <a:t>Hoca referansı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E293B"/>
                          </a:solidFill>
                        </a:rPr>
                        <a:t>170 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E293B"/>
                          </a:solidFill>
                        </a:rPr>
                        <a:t>koşul teyidi gerekli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297680"/>
            <a:ext cx="10698480" cy="100584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27000"/>
          <a:lstStyle/>
          <a:p>
            <a:pPr algn="ctr"/>
            <a:r>
              <a:rPr sz="2200" b="1">
                <a:solidFill>
                  <a:srgbClr val="166534"/>
                </a:solidFill>
              </a:rPr>
              <a:t>SA vs DBLF: −25.0 mm  (%13.9)        ·        SA vs hoca referansı (170 mm): −15.0 mm  (%8.8)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486400"/>
            <a:ext cx="10698480" cy="1097280"/>
          </a:xfrm>
          <a:prstGeom prst="rect">
            <a:avLst/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/>
          <a:lstStyle/>
          <a:p>
            <a:pPr algn="ctr"/>
            <a:r>
              <a:rPr sz="1400" b="0">
                <a:solidFill>
                  <a:srgbClr val="1E293B"/>
                </a:solidFill>
              </a:rPr>
              <a:t>Dürüst çerçeve: 170 mm referansının tabla boyutu / parça boşluğu / yöntem koşulları bilinmiyor — aynı koşullar teyit edilirse '15 mm daha iyi' iddiası kesinleşir. Bizim 155 mm voxel'e YUKARI yuvarlanmış üst sınırdır (gerçek tepe ≤ 155).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563EB"/>
                </a:solidFill>
              </a:rPr>
              <a:t>Karşılaştırma — Yerleşimler Yan Yana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6858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umun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995" y="1463040"/>
            <a:ext cx="6775704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563EB"/>
                </a:solidFill>
              </a:rPr>
              <a:t>SA Yakınsaması — Kazanç Nereden Geldi?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6858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a3d_convergence_numu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0"/>
            <a:ext cx="6949440" cy="39090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760720"/>
            <a:ext cx="5943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4748B"/>
                </a:solidFill>
              </a:rPr>
              <a:t>Best-so-far yükseklik / iterasyon — kesikli çizgi DBLF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82880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59659"/>
                </a:solidFill>
              </a:rPr>
              <a:t>180.0 → 155.0 mm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E293B"/>
                </a:solidFill>
              </a:rPr>
              <a:t>•  Kazancın tamamı ilk ~60 iterasyonda — sonrası plato.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E293B"/>
                </a:solidFill>
              </a:rPr>
              <a:t>•  Voxel dünyasında iyileşme katman katman gelir (2.5 mm'lik basamaklar).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E293B"/>
                </a:solidFill>
              </a:rPr>
              <a:t>•  Pratik sonuç: ~50 iterasyonluk koşu (≈30 sn) aynı sonucu verirdi — süre/kalite ayarı elimizde.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563EB"/>
                </a:solidFill>
              </a:rPr>
              <a:t>Çıktılar ve Kullanıma Hazırlık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6858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059659"/>
                </a:solidFill>
              </a:rPr>
              <a:t>•  Çözüm gerçek geometriye geri yazılıyor: results/numune_sa/nesting3d_result_numune.stl — slicer'da/3D Viewer'da açılabilir.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E293B"/>
                </a:solidFill>
              </a:rPr>
              <a:t>•  Tek tık tekrar: DEMO_NUMUNE.bat — eksik paketleri kurar, iki koşuyu + karşılaştırma raporunu üretir (~10 dk).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E293B"/>
                </a:solidFill>
              </a:rPr>
              <a:t>•  Parametrik: tabla boyutu (--plate), voxel inceliği (--pitch), parça arası boşluk (--margin), iterasyon (--iters) komut satırından.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E293B"/>
                </a:solidFill>
              </a:rPr>
              <a:t>•  Farklı parça setleri: Numuneler/ klasörüne STL koymak + adet yazmak yeterli.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E293B"/>
                </a:solidFill>
              </a:rPr>
              <a:t>•  Kod git'te sürümlü; rapor tabloları results/numune_comparison.md + numune_parts.csv.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1005840"/>
          </a:xfrm>
          <a:prstGeom prst="rect">
            <a:avLst/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01600"/>
          <a:lstStyle/>
          <a:p>
            <a:pPr algn="ctr"/>
            <a:r>
              <a:rPr sz="1600" b="0">
                <a:solidFill>
                  <a:srgbClr val="1E293B"/>
                </a:solidFill>
              </a:rPr>
              <a:t>Hoca kullanacaksa ihtiyaç listesi: Python 3.13 + pip (kurulumu bat hallediyor). Gerçek tabla boyutu ve parça arası boşluk kuralı netleşirse aynı gün yeniden koşulur.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563EB"/>
                </a:solidFill>
              </a:rPr>
              <a:t>Özet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25880"/>
            <a:ext cx="685800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E293B"/>
                </a:solidFill>
              </a:rPr>
              <a:t>•  48 gerçek parçanın tamamı 350×350 mm tabana yerleşti — pipeline gerçek veriyle, algoritmaya dokunmadan çalıştı.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059659"/>
                </a:solidFill>
              </a:rPr>
              <a:t>•  Z yüksekliği: DBLF 180.0 mm → SA 155.0 mm  (−25.0 mm  (%13.9)).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059659"/>
                </a:solidFill>
              </a:rPr>
              <a:t>•  Density: 0.102 → 0.118.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E293B"/>
                </a:solidFill>
              </a:rPr>
              <a:t>•  Hoca referansı 170 mm'ye karşı −15.0 mm  (%8.8) — koşul teyidiyle kesinleşecek.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E293B"/>
                </a:solidFill>
              </a:rPr>
              <a:t>•  Tekrar-üretilebilir: seed=42 · 77 test · DEMO_NUMUNE.bat · STL çıktıları hazır.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i="1">
                <a:solidFill>
                  <a:srgbClr val="64748B"/>
                </a:solidFill>
              </a:rPr>
              <a:t>Teşekkürler — 170 mm'nin koşullarını teyit edebilir miyiz?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