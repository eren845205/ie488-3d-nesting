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AÇILIŞ: 'Geçen haftaki şartlarınızın üçünü de uyguladım: makine ölçüleri 335'e 335, 600 yükseklik; parça arası en az 1 milimetre boşluk — ölçülen 1.50; ve çıktı orijinal çözünürlükte, kabartma yazılar duruyor. Bu şartlar altında 48 parça 181.5 milimetreye yerleşti.'</a:t>
            </a:r>
          </a:p>
          <a:p>
            <a:r>
              <a:t>Önceki 155 rakamı sorulursa: o koşu 350 tabandaydı, parça arası boşluk yoktu ve sonradan ölçtük — 0.77 mm'lik ihlal vardı. Yeni kurallarla geçerli değil; şimdiki 181.5 ölçülmüş 1.50 mm boşlukla geçerli sonuç.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tablo geçen haftaki konuşmamızın birebir karşılığı. Dört maddenin dördü de kapandı ve ikisi sadece kod değil ölçümle kanıtlı: boşluk yerleşim sonrası gerçek geometri üzerinde ölçülüyor, üçgen sayısı çıktı dosyasında sayılıyor.'</a:t>
            </a:r>
          </a:p>
          <a:p>
            <a:r>
              <a:t>Bu slayt sunumun omurgası — hoca ne istediyse onun karşılığını görüyor.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'Sekiz numune gerçek boyutlarıyla. Belirleyici olan on iki büyük plaka: 335 milimetrelik tabana yan yana iki plaka sığmıyor — 228 artı 180, 408 eder. Yani plakalar ister istemez üst üste istifleniyor ve yüksekliği o istif belirliyor.'</a:t>
            </a:r>
          </a:p>
          <a:p>
            <a:r>
              <a:t>SORULURSA (plaka kalınlıkları): ham kalınlık toplamı 202.5 mm — buna boşluklar eklenince salt yatık istif ~206+ mm tabana çarpıyor; 181.5'e inişin yolu bir sonraki slaytlarda.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'Boşluk şartını iki katmanda çözdüm: önce voxel modelde garanti — parça gövdesi bir hücre genişletiliyor, üst üste binmek matematiksel olarak imkânsız. Sonra kontrol — yerleşim bittikten sonra gerçek geometri üzerinde en yakın iki parçanın mesafesi ölçülüyor: 1.50 milimetre.'</a:t>
            </a:r>
          </a:p>
          <a:p>
            <a:r>
              <a:t>Hibrit poz kararı sorulursa: plakaların dik boyları 178.3 / 180.9 / 187.5 / 190.1 — uzunlara dik izni verilirse tavan 190'a kilitleniyor; kısalara izin verip uzunları yatırınca 181.5 mümkün oldu.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on bir saniyede 214.5 milimetre. Mantıklı bir yerleşim ama iki körlüğü var: plakaların istif sırasını optimize edemiyor ve kısa plakaları dik dikme fırsatını hiç görmüyor — çünkü o hamle anlık olarak daha yüksek görünüyor.'</a:t>
            </a:r>
          </a:p>
          <a:p>
            <a:r>
              <a:t>Bu körlük SA'nın değerini kuruyor: bir sonraki slayt.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 greedy'nin göremediği hamleyi buldu: kısa plakaları kenara dik dikti, uzun plakaları ortada yatık istifledi, küçük parçaları şeritlere dağıttı. Sonuç 181.5 milimetre — yüzde 15.4 kazanç, bugüne kadarki en büyüğü.'</a:t>
            </a:r>
          </a:p>
          <a:p>
            <a:r>
              <a:t>Üç farklı seed ile koşuldu: 181.5 / 183.0 / 184.5 — sonuç seed'e değil stratejiye bağlı, yani güvenilir. Boşluk her koşuda 1.50 mm ölçüldü.</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'Tabloda üç satır var. İlk ikisi yeni şartlarla bugünkü sonuçlar. Üçüncüsü geçen haftaki 155 — onu bilerek koydum: o koşu daha büyük tabandaydı, boşluk kuralı yoktu ve ölçünce 0.77 milimetrelik ihlal çıktı. Yani 155 ile 181.5 elma-armut.'</a:t>
            </a:r>
          </a:p>
          <a:p>
            <a:r>
              <a:t>170 SORULURSA: '170'e bu şartlarda ulaşamadık; matematiksel engel şu — en kısa plakanın dik boyu 178.3, yatık istifin tabanı da plaka kalınlıkları toplamından geliyor. 170'in altı ancak taban büyürse veya plaka geometrisi geçişmeye uygun olsaydı mümkündü. İmkânsız demiyorum ama bu konfigürasyonun yapısal sınırındayız.'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'Solda baseline, sağda SA — aynı parçalar, aynı taban. Yükseklik 214.5'ten 181.5'e iniyor, density 0.189'dan 0.229'a çıkıyor.'</a:t>
            </a:r>
          </a:p>
          <a:p>
            <a:r>
              <a:t>Görseldeki fark: SA kısa plakaları kenara dik dikiyor (sağ görselde dik duran levhalar) ve uzun plakaları ortada derli toplu istifliyor.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'Eğri baseline'dan başlıyor — SA hiçbir zaman baseline'ın üstüne çıkmaz, en iyi çözüm hep saklanır. Kazanç iki hamle ailesinden geliyor: kısa plakaları dik çevirmek ve plaka istif sırasını değiştirmek.'</a:t>
            </a:r>
          </a:p>
          <a:p>
            <a:r>
              <a:t>Süre sorulursa: bu bir planlama hesabı, gerçek zamanlı değil — gece koşusu normal. Daha kısa sürede yaklaşık sonuç gerekiyorsa iterasyon düşürülür.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'İç içe geçme sorusu için iki cevabım var. Birincisi tasarım: voxel modelde iki parçanın aynı hücreyi kullanması imkânsız ve gövdeler bir hücre şişirilerek yerleştiriliyor. İkincisi kanıt: yerleşim bittikten sonra gerçek geometri üzerinde en yakın kırk altı çiftin mesafesini ölçüyorum — minimum 1.50 milimetre.'</a:t>
            </a:r>
          </a:p>
          <a:p>
            <a:r>
              <a:t>Bu slayt güven slaytı: kendi hatamızı (0.77) kendi aracımızın yakaladığını söylemek güvenilirliği artırır.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'Çözünürlük sorusunun cevabı mimaride: voxel yalnız yerleşim hesabı için var — 1.5 milimetrelik hücreler, 335'lik tabanda 223'e 223'lük grid. Yerleşim bitince her parçanın ORİJİNAL mesh'i bulunan pozisyona taşınıyor; yani çıktının çözünürlüğünü voxel değil, sizin gönderdiğiniz STL'nin kendisi belirliyor. Kanıtı da basit: kırk sekiz parçanın üçgen toplamı üç milyon dokuz yüz elli bin — çıktı dosyasında da aynı sayı.'</a:t>
            </a:r>
          </a:p>
          <a:p>
            <a:r>
              <a:t>'En az 1 mm çözünürlük' sorulursa: voxel 1.5 mm ama o yalnız İÇ hesap; raporlanan yükseklik yukarı yuvarlandığı için muhafazakâr, çıktı ise birebir orijinal. İsterse STL'yi yanında açıp bir plakanın yazısına zoom yap — en ikna edici an bu olur.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'Sonuç sadece rakam değil — teslim edilebilir paket: üretime girebilecek STL, denetlenebilir boşluk raporu, tekrar koşulabilir parametrik sistem.'</a:t>
            </a:r>
          </a:p>
          <a:p>
            <a:r>
              <a:t>Uygulama konusu açılırsa: motor hazır, üstüne konteyner kabuğu + arayüz giydirilecek — demo birkaç hafta mesafede.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KAPANIŞ: 'Şartlarınızın üçü de uygulandı ve ikisi ölçümle kanıtlı. Yeni kurallar altında 48 parça 181.5 milimetrede, 1.50 milimetre ölçülmüş boşlukla, yazılar korunarak yerleşiyor. Bir sonraki adım olarak bunu sizin makinenizde birebir doğrulayalım; sonrasında konteyner uygulamasına aynı motorla geçebiliriz.'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40080" y="822960"/>
            <a:ext cx="5852160"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600" b="1">
                <a:solidFill>
                  <a:srgbClr val="2563EB"/>
                </a:solidFill>
              </a:rPr>
              <a:t>IE 488 — Dönem Projesi · Numune Fazı FİNAL (Makine Şartlarıyla)</a:t>
            </a:r>
          </a:p>
        </p:txBody>
      </p:sp>
      <p:sp>
        <p:nvSpPr>
          <p:cNvPr id="3" name="TextBox 2"/>
          <p:cNvSpPr txBox="1"/>
          <p:nvPr/>
        </p:nvSpPr>
        <p:spPr>
          <a:xfrm>
            <a:off x="640080" y="1554480"/>
            <a:ext cx="10972800" cy="1463040"/>
          </a:xfrm>
          <a:prstGeom prst="rect">
            <a:avLst/>
          </a:prstGeom>
          <a:noFill/>
        </p:spPr>
        <p:txBody>
          <a:bodyPr wrap="square">
            <a:spAutoFit/>
          </a:bodyPr>
          <a:lstStyle/>
          <a:p>
            <a:r>
              <a:rPr sz="4000" b="1">
                <a:solidFill>
                  <a:srgbClr val="1E293B"/>
                </a:solidFill>
              </a:rPr>
              <a:t>Gerçek Numunelerle 3B Nesting — Final Sonuç Raporu</a:t>
            </a:r>
          </a:p>
        </p:txBody>
      </p:sp>
      <p:sp>
        <p:nvSpPr>
          <p:cNvPr id="4" name="Rectangle 3"/>
          <p:cNvSpPr/>
          <p:nvPr/>
        </p:nvSpPr>
        <p:spPr>
          <a:xfrm>
            <a:off x="640080" y="3017520"/>
            <a:ext cx="10972800" cy="1554480"/>
          </a:xfrm>
          <a:prstGeom prst="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wrap="square" lIns="254000" tIns="127000"/>
          <a:lstStyle/>
          <a:p>
            <a:pPr algn="ctr"/>
            <a:r>
              <a:rPr sz="3400" b="1">
                <a:solidFill>
                  <a:srgbClr val="166534"/>
                </a:solidFill>
              </a:rPr>
              <a:t>Z yüksekliği:  214.5 mm  →  181.5 mm</a:t>
            </a:r>
          </a:p>
          <a:p>
            <a:r>
              <a:rPr sz="1800">
                <a:solidFill>
                  <a:srgbClr val="1E293B"/>
                </a:solidFill>
              </a:rPr>
              <a:t>parça arası ölçülen min boşluk 1.50 mm ✓   ·   density 0.189 → 0.229   ·   kabartma yazılar korunuyor (3.950.364 üçgen)</a:t>
            </a:r>
          </a:p>
        </p:txBody>
      </p:sp>
      <p:sp>
        <p:nvSpPr>
          <p:cNvPr id="5" name="TextBox 4"/>
          <p:cNvSpPr txBox="1"/>
          <p:nvPr/>
        </p:nvSpPr>
        <p:spPr>
          <a:xfrm>
            <a:off x="640080" y="4937760"/>
            <a:ext cx="10972800" cy="1280160"/>
          </a:xfrm>
          <a:prstGeom prst="rect">
            <a:avLst/>
          </a:prstGeom>
          <a:noFill/>
        </p:spPr>
        <p:txBody>
          <a:bodyPr wrap="square">
            <a:spAutoFit/>
          </a:bodyPr>
          <a:lstStyle/>
          <a:p>
            <a:r>
              <a:rPr sz="1800">
                <a:solidFill>
                  <a:srgbClr val="64748B"/>
                </a:solidFill>
              </a:rPr>
              <a:t>8 gerçek numune · toplam 48 parça · makine 335×335 mm, z limiti 600 mm · voxel 1.5 mm · boşluk &gt;= 1 mm (garantili)</a:t>
            </a:r>
          </a:p>
          <a:p>
            <a:pPr>
              <a:spcBef>
                <a:spcPts val="800"/>
              </a:spcBef>
            </a:pPr>
            <a:r>
              <a:rPr sz="1400">
                <a:solidFill>
                  <a:srgbClr val="64748B"/>
                </a:solidFill>
              </a:rPr>
              <a:t>STL → konservatif voxelization → DBLF → Simulated Annealing → devoxelization → orijinal çözünürlüklü .STL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Geçen Haftaki Şartlar → Durum</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91640"/>
          <a:ext cx="10698479" cy="3657600"/>
        </p:xfrm>
        <a:graphic>
          <a:graphicData uri="http://schemas.openxmlformats.org/drawingml/2006/table">
            <a:tbl>
              <a:tblPr firstRow="1" bandRow="1">
                <a:tableStyleId>{5C22544A-7EE6-4342-B048-85BDC9FD1C3A}</a:tableStyleId>
              </a:tblPr>
              <a:tblGrid>
                <a:gridCol w="3749039"/>
                <a:gridCol w="5486400"/>
                <a:gridCol w="1463040"/>
              </a:tblGrid>
              <a:tr h="731520">
                <a:tc>
                  <a:txBody>
                    <a:bodyPr/>
                    <a:lstStyle/>
                    <a:p>
                      <a:r>
                        <a:rPr sz="1500" b="1">
                          <a:solidFill>
                            <a:srgbClr val="FFFFFF"/>
                          </a:solidFill>
                        </a:rPr>
                        <a:t>Şart (2026-06-11)</a:t>
                      </a:r>
                    </a:p>
                  </a:txBody>
                  <a:tcPr>
                    <a:solidFill>
                      <a:srgbClr val="2563EB"/>
                    </a:solidFill>
                  </a:tcPr>
                </a:tc>
                <a:tc>
                  <a:txBody>
                    <a:bodyPr/>
                    <a:lstStyle/>
                    <a:p>
                      <a:r>
                        <a:rPr sz="1500" b="1">
                          <a:solidFill>
                            <a:srgbClr val="FFFFFF"/>
                          </a:solidFill>
                        </a:rPr>
                        <a:t>Uygulanan çözüm</a:t>
                      </a:r>
                    </a:p>
                  </a:txBody>
                  <a:tcPr>
                    <a:solidFill>
                      <a:srgbClr val="2563EB"/>
                    </a:solidFill>
                  </a:tcPr>
                </a:tc>
                <a:tc>
                  <a:txBody>
                    <a:bodyPr/>
                    <a:lstStyle/>
                    <a:p>
                      <a:r>
                        <a:rPr sz="1500" b="1">
                          <a:solidFill>
                            <a:srgbClr val="FFFFFF"/>
                          </a:solidFill>
                        </a:rPr>
                        <a:t>Durum</a:t>
                      </a:r>
                    </a:p>
                  </a:txBody>
                  <a:tcPr>
                    <a:solidFill>
                      <a:srgbClr val="2563EB"/>
                    </a:solidFill>
                  </a:tcPr>
                </a:tc>
              </a:tr>
              <a:tr h="731520">
                <a:tc>
                  <a:txBody>
                    <a:bodyPr/>
                    <a:lstStyle/>
                    <a:p>
                      <a:r>
                        <a:rPr sz="1300" b="0">
                          <a:solidFill>
                            <a:srgbClr val="1E293B"/>
                          </a:solidFill>
                        </a:rPr>
                        <a:t>Parça arası min 1 mm boşluk (her yönde)</a:t>
                      </a:r>
                    </a:p>
                  </a:txBody>
                  <a:tcPr>
                    <a:solidFill>
                      <a:srgbClr val="FFFFFF"/>
                    </a:solidFill>
                  </a:tcPr>
                </a:tc>
                <a:tc>
                  <a:txBody>
                    <a:bodyPr/>
                    <a:lstStyle/>
                    <a:p>
                      <a:r>
                        <a:rPr sz="1300" b="0">
                          <a:solidFill>
                            <a:srgbClr val="1E293B"/>
                          </a:solidFill>
                        </a:rPr>
                        <a:t>Konservatif voxel sarması + yatay/dikey boşluk şeması; orijinal geometride ölçüm: min 1.50 mm</a:t>
                      </a:r>
                    </a:p>
                  </a:txBody>
                  <a:tcPr>
                    <a:solidFill>
                      <a:srgbClr val="FFFFFF"/>
                    </a:solidFill>
                  </a:tcPr>
                </a:tc>
                <a:tc>
                  <a:txBody>
                    <a:bodyPr/>
                    <a:lstStyle/>
                    <a:p>
                      <a:r>
                        <a:rPr sz="1300" b="1">
                          <a:solidFill>
                            <a:srgbClr val="166534"/>
                          </a:solidFill>
                        </a:rPr>
                        <a:t>✓ ölçüldü</a:t>
                      </a:r>
                    </a:p>
                  </a:txBody>
                  <a:tcPr>
                    <a:solidFill>
                      <a:srgbClr val="FFFFFF"/>
                    </a:solidFill>
                  </a:tcPr>
                </a:tc>
              </a:tr>
              <a:tr h="731520">
                <a:tc>
                  <a:txBody>
                    <a:bodyPr/>
                    <a:lstStyle/>
                    <a:p>
                      <a:r>
                        <a:rPr sz="1300" b="0">
                          <a:solidFill>
                            <a:srgbClr val="1E293B"/>
                          </a:solidFill>
                        </a:rPr>
                        <a:t>Makine: taban 335×335 mm, max z 600 mm</a:t>
                      </a:r>
                    </a:p>
                  </a:txBody>
                  <a:tcPr>
                    <a:solidFill>
                      <a:srgbClr val="FFFFFF"/>
                    </a:solidFill>
                  </a:tcPr>
                </a:tc>
                <a:tc>
                  <a:txBody>
                    <a:bodyPr/>
                    <a:lstStyle/>
                    <a:p>
                      <a:r>
                        <a:rPr sz="1300" b="0">
                          <a:solidFill>
                            <a:srgbClr val="1E293B"/>
                          </a:solidFill>
                        </a:rPr>
                        <a:t>Taban 335×335 mm; sonuç 181.5 mm ≤ 600 mm</a:t>
                      </a:r>
                    </a:p>
                  </a:txBody>
                  <a:tcPr>
                    <a:solidFill>
                      <a:srgbClr val="FFFFFF"/>
                    </a:solidFill>
                  </a:tcPr>
                </a:tc>
                <a:tc>
                  <a:txBody>
                    <a:bodyPr/>
                    <a:lstStyle/>
                    <a:p>
                      <a:r>
                        <a:rPr sz="1300" b="1">
                          <a:solidFill>
                            <a:srgbClr val="166534"/>
                          </a:solidFill>
                        </a:rPr>
                        <a:t>✓</a:t>
                      </a:r>
                    </a:p>
                  </a:txBody>
                  <a:tcPr>
                    <a:solidFill>
                      <a:srgbClr val="FFFFFF"/>
                    </a:solidFill>
                  </a:tcPr>
                </a:tc>
              </a:tr>
              <a:tr h="731520">
                <a:tc>
                  <a:txBody>
                    <a:bodyPr/>
                    <a:lstStyle/>
                    <a:p>
                      <a:r>
                        <a:rPr sz="1300" b="0">
                          <a:solidFill>
                            <a:srgbClr val="1E293B"/>
                          </a:solidFill>
                        </a:rPr>
                        <a:t>Çözünürlük: kabartma yazılar kaybolmayacak</a:t>
                      </a:r>
                    </a:p>
                  </a:txBody>
                  <a:tcPr>
                    <a:solidFill>
                      <a:srgbClr val="FFFFFF"/>
                    </a:solidFill>
                  </a:tcPr>
                </a:tc>
                <a:tc>
                  <a:txBody>
                    <a:bodyPr/>
                    <a:lstStyle/>
                    <a:p>
                      <a:r>
                        <a:rPr sz="1300" b="0">
                          <a:solidFill>
                            <a:srgbClr val="1E293B"/>
                          </a:solidFill>
                        </a:rPr>
                        <a:t>Devoxelization — çıktı STL orijinal mesh'lerden; 3.950.364 üçgenin tamamı birebir korunuyor</a:t>
                      </a:r>
                    </a:p>
                  </a:txBody>
                  <a:tcPr>
                    <a:solidFill>
                      <a:srgbClr val="FFFFFF"/>
                    </a:solidFill>
                  </a:tcPr>
                </a:tc>
                <a:tc>
                  <a:txBody>
                    <a:bodyPr/>
                    <a:lstStyle/>
                    <a:p>
                      <a:r>
                        <a:rPr sz="1300" b="1">
                          <a:solidFill>
                            <a:srgbClr val="166534"/>
                          </a:solidFill>
                        </a:rPr>
                        <a:t>✓ doğrulandı</a:t>
                      </a:r>
                    </a:p>
                  </a:txBody>
                  <a:tcPr>
                    <a:solidFill>
                      <a:srgbClr val="FFFFFF"/>
                    </a:solidFill>
                  </a:tcPr>
                </a:tc>
              </a:tr>
              <a:tr h="731520">
                <a:tc>
                  <a:txBody>
                    <a:bodyPr/>
                    <a:lstStyle/>
                    <a:p>
                      <a:r>
                        <a:rPr sz="1300" b="0">
                          <a:solidFill>
                            <a:srgbClr val="1E293B"/>
                          </a:solidFill>
                        </a:rPr>
                        <a:t>Optimizasyon voxel'de, çıktı orijinal parçalarla</a:t>
                      </a:r>
                    </a:p>
                  </a:txBody>
                  <a:tcPr>
                    <a:solidFill>
                      <a:srgbClr val="FFFFFF"/>
                    </a:solidFill>
                  </a:tcPr>
                </a:tc>
                <a:tc>
                  <a:txBody>
                    <a:bodyPr/>
                    <a:lstStyle/>
                    <a:p>
                      <a:r>
                        <a:rPr sz="1300" b="0">
                          <a:solidFill>
                            <a:srgbClr val="1E293B"/>
                          </a:solidFill>
                        </a:rPr>
                        <a:t>Voxel yalnız yerleşim hesabında; STL sahnesi orijinal geometriyle kurulur</a:t>
                      </a:r>
                    </a:p>
                  </a:txBody>
                  <a:tcPr>
                    <a:solidFill>
                      <a:srgbClr val="FFFFFF"/>
                    </a:solidFill>
                  </a:tcPr>
                </a:tc>
                <a:tc>
                  <a:txBody>
                    <a:bodyPr/>
                    <a:lstStyle/>
                    <a:p>
                      <a:r>
                        <a:rPr sz="1300" b="1">
                          <a:solidFill>
                            <a:srgbClr val="166534"/>
                          </a:solidFill>
                        </a:rPr>
                        <a:t>✓</a:t>
                      </a:r>
                    </a:p>
                  </a:txBody>
                  <a:tcP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Verilen Numuneler — 8 Model, 48 Parça</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umune_overview.png"/>
          <p:cNvPicPr>
            <a:picLocks noChangeAspect="1"/>
          </p:cNvPicPr>
          <p:nvPr/>
        </p:nvPicPr>
        <p:blipFill>
          <a:blip r:embed="rId2"/>
          <a:stretch>
            <a:fillRect/>
          </a:stretch>
        </p:blipFill>
        <p:spPr>
          <a:xfrm>
            <a:off x="2212695" y="1463040"/>
            <a:ext cx="7766304" cy="4160520"/>
          </a:xfrm>
          <a:prstGeom prst="rect">
            <a:avLst/>
          </a:prstGeom>
        </p:spPr>
      </p:pic>
      <p:sp>
        <p:nvSpPr>
          <p:cNvPr id="6" name="Rectangle 5"/>
          <p:cNvSpPr/>
          <p:nvPr/>
        </p:nvSpPr>
        <p:spPr>
          <a:xfrm>
            <a:off x="731520" y="5760720"/>
            <a:ext cx="10698480" cy="914400"/>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r>
              <a:rPr sz="1300" b="0">
                <a:solidFill>
                  <a:srgbClr val="1E293B"/>
                </a:solidFill>
              </a:rPr>
              <a:t>Gerçek mm boyutları korunarak yüklendi (ölçekleme YOK). Taban artık makinenizin ölçüsü: 335×335 mm. Kritik geometri: 12 büyük delikli plaka (3/6/7/8 ×3) — taban aynı anda tek plaka alıyor, istif stratejisi sonucu belirliyor. Adetler: 1×4 · 2×16 · 3×3 · 4×15 · 5×1 · 6×3 · 7×3 · 8×3.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Kurulum — Makine Şartlarıyla Final Konfigürasyon</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91640"/>
            <a:ext cx="10698480" cy="4572000"/>
          </a:xfrm>
          <a:prstGeom prst="rect">
            <a:avLst/>
          </a:prstGeom>
          <a:noFill/>
        </p:spPr>
        <p:txBody>
          <a:bodyPr wrap="square">
            <a:spAutoFit/>
          </a:bodyPr>
          <a:lstStyle/>
          <a:p>
            <a:pPr>
              <a:spcAft>
                <a:spcPts val="1200"/>
              </a:spcAft>
            </a:pPr>
            <a:r>
              <a:rPr sz="2000" b="0">
                <a:solidFill>
                  <a:srgbClr val="1E293B"/>
                </a:solidFill>
              </a:rPr>
              <a:t>•  Taban 335×335 mm, voxel 1.5 mm, z limiti 600 mm — makinenizin ölçüleri.</a:t>
            </a:r>
          </a:p>
          <a:p>
            <a:pPr>
              <a:spcAft>
                <a:spcPts val="1200"/>
              </a:spcAft>
            </a:pPr>
            <a:r>
              <a:rPr sz="2000" b="1">
                <a:solidFill>
                  <a:srgbClr val="059659"/>
                </a:solidFill>
              </a:rPr>
              <a:t>•  Boşluk garantisi: konservatif voxelization (yüzey örnekleme — ince duvar/detay kaçmaz) + 1 voxel yatay genişletme + dikey istif boşluğu. Ardından bağımsız ölçüm: orijinal mesh'lerde en yakın çift araması.</a:t>
            </a:r>
          </a:p>
          <a:p>
            <a:pPr>
              <a:spcAft>
                <a:spcPts val="1200"/>
              </a:spcAft>
            </a:pPr>
            <a:r>
              <a:rPr sz="2000" b="0">
                <a:solidFill>
                  <a:srgbClr val="1E293B"/>
                </a:solidFill>
              </a:rPr>
              <a:t>•  Poz stratejisi (hibrit): kısa plakalar (3, 6) dik durabilir; uzun plakalar (7, 8) yalnız yatık — dik boyları 187.5/190.1 mm tavan yaratıyordu. Bu seçim algoritmaya değil, parça analizine dayanıyor.</a:t>
            </a:r>
          </a:p>
          <a:p>
            <a:pPr>
              <a:spcAft>
                <a:spcPts val="1200"/>
              </a:spcAft>
            </a:pPr>
            <a:r>
              <a:rPr sz="2000" b="0">
                <a:solidFill>
                  <a:srgbClr val="1E293B"/>
                </a:solidFill>
              </a:rPr>
              <a:t>•  Arama: DBLF baseline + SA (sıra + duruş, 2000 iterasyon) — best-so-far korunur, baseline'ın altına düşmez.</a:t>
            </a:r>
          </a:p>
          <a:p>
            <a:pPr>
              <a:spcAft>
                <a:spcPts val="1200"/>
              </a:spcAft>
            </a:pPr>
            <a:r>
              <a:rPr sz="2000" b="0">
                <a:solidFill>
                  <a:srgbClr val="1E293B"/>
                </a:solidFill>
              </a:rPr>
              <a:t>•  Doğrulama: 95 birim testi yeşil; seed sabit, tekrar-üretilebilir.</a:t>
            </a:r>
          </a:p>
        </p:txBody>
      </p:sp>
      <p:sp>
        <p:nvSpPr>
          <p:cNvPr id="6" name="Rectangle 5"/>
          <p:cNvSpPr/>
          <p:nvPr/>
        </p:nvSpPr>
        <p:spPr>
          <a:xfrm>
            <a:off x="731520" y="5440680"/>
            <a:ext cx="10698480" cy="914400"/>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r>
              <a:rPr sz="1600" b="0">
                <a:solidFill>
                  <a:srgbClr val="1E293B"/>
                </a:solidFill>
              </a:rPr>
              <a:t>Raporlanan yükseklikler 1.5 mm katmanlara YUKARI yuvarlanmış muhafazakâr değerlerdir. Boşluk rakamı ise voxel değil, gerçek geometri ölçümüdür.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Yerleşim 1 — DBLF Baseline</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sting3d_numune.png"/>
          <p:cNvPicPr>
            <a:picLocks noChangeAspect="1"/>
          </p:cNvPicPr>
          <p:nvPr/>
        </p:nvPicPr>
        <p:blipFill>
          <a:blip r:embed="rId2"/>
          <a:stretch>
            <a:fillRect/>
          </a:stretch>
        </p:blipFill>
        <p:spPr>
          <a:xfrm>
            <a:off x="411480" y="1508760"/>
            <a:ext cx="6858000" cy="5334000"/>
          </a:xfrm>
          <a:prstGeom prst="rect">
            <a:avLst/>
          </a:prstGeom>
        </p:spPr>
      </p:pic>
      <p:sp>
        <p:nvSpPr>
          <p:cNvPr id="6" name="TextBox 5"/>
          <p:cNvSpPr txBox="1"/>
          <p:nvPr/>
        </p:nvSpPr>
        <p:spPr>
          <a:xfrm>
            <a:off x="731520" y="6309360"/>
            <a:ext cx="5943600" cy="457200"/>
          </a:xfrm>
          <a:prstGeom prst="rect">
            <a:avLst/>
          </a:prstGeom>
          <a:noFill/>
        </p:spPr>
        <p:txBody>
          <a:bodyPr wrap="none">
            <a:spAutoFit/>
          </a:bodyPr>
          <a:lstStyle/>
          <a:p>
            <a:r>
              <a:rPr sz="1200">
                <a:solidFill>
                  <a:srgbClr val="64748B"/>
                </a:solidFill>
              </a:rPr>
              <a:t>48 parçanın tamamı yerleşti — greedy kural, hacim-azalan sıra</a:t>
            </a:r>
          </a:p>
        </p:txBody>
      </p:sp>
      <p:sp>
        <p:nvSpPr>
          <p:cNvPr id="7" name="TextBox 6"/>
          <p:cNvSpPr txBox="1"/>
          <p:nvPr/>
        </p:nvSpPr>
        <p:spPr>
          <a:xfrm>
            <a:off x="7498079" y="1737360"/>
            <a:ext cx="4206240" cy="3840480"/>
          </a:xfrm>
          <a:prstGeom prst="rect">
            <a:avLst/>
          </a:prstGeom>
          <a:noFill/>
        </p:spPr>
        <p:txBody>
          <a:bodyPr wrap="square">
            <a:spAutoFit/>
          </a:bodyPr>
          <a:lstStyle/>
          <a:p>
            <a:pPr>
              <a:spcAft>
                <a:spcPts val="200"/>
              </a:spcAft>
            </a:pPr>
            <a:r>
              <a:rPr sz="1500">
                <a:solidFill>
                  <a:srgbClr val="64748B"/>
                </a:solidFill>
              </a:rPr>
              <a:t>Z yüksekliği</a:t>
            </a:r>
          </a:p>
          <a:p>
            <a:pPr>
              <a:spcAft>
                <a:spcPts val="1400"/>
              </a:spcAft>
            </a:pPr>
            <a:r>
              <a:rPr sz="3400" b="1">
                <a:solidFill>
                  <a:srgbClr val="1E293B"/>
                </a:solidFill>
              </a:rPr>
              <a:t>214.5 mm</a:t>
            </a:r>
          </a:p>
          <a:p>
            <a:pPr>
              <a:spcAft>
                <a:spcPts val="200"/>
              </a:spcAft>
            </a:pPr>
            <a:r>
              <a:rPr sz="1500">
                <a:solidFill>
                  <a:srgbClr val="64748B"/>
                </a:solidFill>
              </a:rPr>
              <a:t>Packing density</a:t>
            </a:r>
          </a:p>
          <a:p>
            <a:pPr>
              <a:spcAft>
                <a:spcPts val="1400"/>
              </a:spcAft>
            </a:pPr>
            <a:r>
              <a:rPr sz="3400" b="1">
                <a:solidFill>
                  <a:srgbClr val="1E293B"/>
                </a:solidFill>
              </a:rPr>
              <a:t>0.189</a:t>
            </a:r>
          </a:p>
          <a:p>
            <a:pPr>
              <a:spcAft>
                <a:spcPts val="200"/>
              </a:spcAft>
            </a:pPr>
            <a:r>
              <a:rPr sz="1500">
                <a:solidFill>
                  <a:srgbClr val="64748B"/>
                </a:solidFill>
              </a:rPr>
              <a:t>Süre</a:t>
            </a:r>
          </a:p>
          <a:p>
            <a:pPr>
              <a:spcAft>
                <a:spcPts val="1400"/>
              </a:spcAft>
            </a:pPr>
            <a:r>
              <a:rPr sz="2400" b="1">
                <a:solidFill>
                  <a:srgbClr val="64748B"/>
                </a:solidFill>
              </a:rPr>
              <a:t>~11 s</a:t>
            </a:r>
          </a:p>
        </p:txBody>
      </p:sp>
      <p:sp>
        <p:nvSpPr>
          <p:cNvPr id="8" name="Rectangle 7"/>
          <p:cNvSpPr/>
          <p:nvPr/>
        </p:nvSpPr>
        <p:spPr>
          <a:xfrm>
            <a:off x="7498079" y="4572000"/>
            <a:ext cx="4206240" cy="1554480"/>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r>
              <a:rPr sz="1400" b="0">
                <a:solidFill>
                  <a:srgbClr val="1E293B"/>
                </a:solidFill>
              </a:rPr>
              <a:t>Greedy tüm plakaları yatık istifliyor (anlık en alçak tepe hep yatık poz); istif sırasını ve dik-plaka fırsatını göremiyor.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Yerleşim 2 — Simulated Annealing (Final)</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sting3d_numune.png"/>
          <p:cNvPicPr>
            <a:picLocks noChangeAspect="1"/>
          </p:cNvPicPr>
          <p:nvPr/>
        </p:nvPicPr>
        <p:blipFill>
          <a:blip r:embed="rId2"/>
          <a:stretch>
            <a:fillRect/>
          </a:stretch>
        </p:blipFill>
        <p:spPr>
          <a:xfrm>
            <a:off x="411480" y="1508760"/>
            <a:ext cx="6858000" cy="5334000"/>
          </a:xfrm>
          <a:prstGeom prst="rect">
            <a:avLst/>
          </a:prstGeom>
        </p:spPr>
      </p:pic>
      <p:sp>
        <p:nvSpPr>
          <p:cNvPr id="6" name="TextBox 5"/>
          <p:cNvSpPr txBox="1"/>
          <p:nvPr/>
        </p:nvSpPr>
        <p:spPr>
          <a:xfrm>
            <a:off x="731520" y="6309360"/>
            <a:ext cx="5943600" cy="457200"/>
          </a:xfrm>
          <a:prstGeom prst="rect">
            <a:avLst/>
          </a:prstGeom>
          <a:noFill/>
        </p:spPr>
        <p:txBody>
          <a:bodyPr wrap="none">
            <a:spAutoFit/>
          </a:bodyPr>
          <a:lstStyle/>
          <a:p>
            <a:r>
              <a:rPr sz="1200">
                <a:solidFill>
                  <a:srgbClr val="64748B"/>
                </a:solidFill>
              </a:rPr>
              <a:t>Kısa plakalar kenarda dik, uzun plakalar ortada yatık istif</a:t>
            </a:r>
          </a:p>
        </p:txBody>
      </p:sp>
      <p:sp>
        <p:nvSpPr>
          <p:cNvPr id="7" name="TextBox 6"/>
          <p:cNvSpPr txBox="1"/>
          <p:nvPr/>
        </p:nvSpPr>
        <p:spPr>
          <a:xfrm>
            <a:off x="7498079" y="1737360"/>
            <a:ext cx="4206240" cy="3840480"/>
          </a:xfrm>
          <a:prstGeom prst="rect">
            <a:avLst/>
          </a:prstGeom>
          <a:noFill/>
        </p:spPr>
        <p:txBody>
          <a:bodyPr wrap="square">
            <a:spAutoFit/>
          </a:bodyPr>
          <a:lstStyle/>
          <a:p>
            <a:pPr>
              <a:spcAft>
                <a:spcPts val="200"/>
              </a:spcAft>
            </a:pPr>
            <a:r>
              <a:rPr sz="1500">
                <a:solidFill>
                  <a:srgbClr val="64748B"/>
                </a:solidFill>
              </a:rPr>
              <a:t>Z yüksekliği</a:t>
            </a:r>
          </a:p>
          <a:p>
            <a:pPr>
              <a:spcAft>
                <a:spcPts val="1400"/>
              </a:spcAft>
            </a:pPr>
            <a:r>
              <a:rPr sz="3400" b="1">
                <a:solidFill>
                  <a:srgbClr val="166534"/>
                </a:solidFill>
              </a:rPr>
              <a:t>181.5 mm</a:t>
            </a:r>
          </a:p>
          <a:p>
            <a:pPr>
              <a:spcAft>
                <a:spcPts val="200"/>
              </a:spcAft>
            </a:pPr>
            <a:r>
              <a:rPr sz="1500">
                <a:solidFill>
                  <a:srgbClr val="64748B"/>
                </a:solidFill>
              </a:rPr>
              <a:t>Packing density</a:t>
            </a:r>
          </a:p>
          <a:p>
            <a:pPr>
              <a:spcAft>
                <a:spcPts val="1400"/>
              </a:spcAft>
            </a:pPr>
            <a:r>
              <a:rPr sz="3400" b="1">
                <a:solidFill>
                  <a:srgbClr val="166534"/>
                </a:solidFill>
              </a:rPr>
              <a:t>0.229</a:t>
            </a:r>
          </a:p>
          <a:p>
            <a:pPr>
              <a:spcAft>
                <a:spcPts val="200"/>
              </a:spcAft>
            </a:pPr>
            <a:r>
              <a:rPr sz="1500">
                <a:solidFill>
                  <a:srgbClr val="64748B"/>
                </a:solidFill>
              </a:rPr>
              <a:t>Kazanç (DBLF'e göre)</a:t>
            </a:r>
          </a:p>
          <a:p>
            <a:pPr>
              <a:spcAft>
                <a:spcPts val="1400"/>
              </a:spcAft>
            </a:pPr>
            <a:r>
              <a:rPr sz="2400" b="1">
                <a:solidFill>
                  <a:srgbClr val="059659"/>
                </a:solidFill>
              </a:rPr>
              <a:t>−33.0 mm  (%15.4)</a:t>
            </a:r>
          </a:p>
          <a:p>
            <a:pPr>
              <a:spcAft>
                <a:spcPts val="200"/>
              </a:spcAft>
            </a:pPr>
            <a:r>
              <a:rPr sz="1500">
                <a:solidFill>
                  <a:srgbClr val="64748B"/>
                </a:solidFill>
              </a:rPr>
              <a:t>Min boşluk (ölçülen)</a:t>
            </a:r>
          </a:p>
          <a:p>
            <a:pPr>
              <a:spcAft>
                <a:spcPts val="1400"/>
              </a:spcAft>
            </a:pPr>
            <a:r>
              <a:rPr sz="2400" b="1">
                <a:solidFill>
                  <a:srgbClr val="059659"/>
                </a:solidFill>
              </a:rPr>
              <a:t>1.50 mm ✓</a:t>
            </a:r>
          </a:p>
          <a:p>
            <a:pPr>
              <a:spcAft>
                <a:spcPts val="200"/>
              </a:spcAft>
            </a:pPr>
            <a:r>
              <a:rPr sz="1500">
                <a:solidFill>
                  <a:srgbClr val="64748B"/>
                </a:solidFill>
              </a:rPr>
              <a:t>Süre</a:t>
            </a:r>
          </a:p>
          <a:p>
            <a:pPr>
              <a:spcAft>
                <a:spcPts val="1400"/>
              </a:spcAft>
            </a:pPr>
            <a:r>
              <a:rPr sz="2400" b="1">
                <a:solidFill>
                  <a:srgbClr val="64748B"/>
                </a:solidFill>
              </a:rPr>
              <a:t>~93 dk (2000 iterasyon, seed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Karşılaştırma — Rakamlar</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91640"/>
          <a:ext cx="10698480" cy="2286000"/>
        </p:xfrm>
        <a:graphic>
          <a:graphicData uri="http://schemas.openxmlformats.org/drawingml/2006/table">
            <a:tbl>
              <a:tblPr firstRow="1" bandRow="1">
                <a:tableStyleId>{5C22544A-7EE6-4342-B048-85BDC9FD1C3A}</a:tableStyleId>
              </a:tblPr>
              <a:tblGrid>
                <a:gridCol w="2651760"/>
                <a:gridCol w="1828800"/>
                <a:gridCol w="1371600"/>
                <a:gridCol w="1645920"/>
                <a:gridCol w="3200400"/>
              </a:tblGrid>
              <a:tr h="571500">
                <a:tc>
                  <a:txBody>
                    <a:bodyPr/>
                    <a:lstStyle/>
                    <a:p>
                      <a:pPr algn="ctr"/>
                      <a:r>
                        <a:rPr sz="1600" b="1">
                          <a:solidFill>
                            <a:srgbClr val="FFFFFF"/>
                          </a:solidFill>
                        </a:rPr>
                        <a:t/>
                      </a:r>
                    </a:p>
                  </a:txBody>
                  <a:tcPr>
                    <a:solidFill>
                      <a:srgbClr val="2563EB"/>
                    </a:solidFill>
                  </a:tcPr>
                </a:tc>
                <a:tc>
                  <a:txBody>
                    <a:bodyPr/>
                    <a:lstStyle/>
                    <a:p>
                      <a:pPr algn="ctr"/>
                      <a:r>
                        <a:rPr sz="1600" b="1">
                          <a:solidFill>
                            <a:srgbClr val="FFFFFF"/>
                          </a:solidFill>
                        </a:rPr>
                        <a:t>Z yüksekliği</a:t>
                      </a:r>
                    </a:p>
                  </a:txBody>
                  <a:tcPr>
                    <a:solidFill>
                      <a:srgbClr val="2563EB"/>
                    </a:solidFill>
                  </a:tcPr>
                </a:tc>
                <a:tc>
                  <a:txBody>
                    <a:bodyPr/>
                    <a:lstStyle/>
                    <a:p>
                      <a:pPr algn="ctr"/>
                      <a:r>
                        <a:rPr sz="1600" b="1">
                          <a:solidFill>
                            <a:srgbClr val="FFFFFF"/>
                          </a:solidFill>
                        </a:rPr>
                        <a:t>Density</a:t>
                      </a:r>
                    </a:p>
                  </a:txBody>
                  <a:tcPr>
                    <a:solidFill>
                      <a:srgbClr val="2563EB"/>
                    </a:solidFill>
                  </a:tcPr>
                </a:tc>
                <a:tc>
                  <a:txBody>
                    <a:bodyPr/>
                    <a:lstStyle/>
                    <a:p>
                      <a:pPr algn="ctr"/>
                      <a:r>
                        <a:rPr sz="1600" b="1">
                          <a:solidFill>
                            <a:srgbClr val="FFFFFF"/>
                          </a:solidFill>
                        </a:rPr>
                        <a:t>Min boşluk</a:t>
                      </a:r>
                    </a:p>
                  </a:txBody>
                  <a:tcPr>
                    <a:solidFill>
                      <a:srgbClr val="2563EB"/>
                    </a:solidFill>
                  </a:tcPr>
                </a:tc>
                <a:tc>
                  <a:txBody>
                    <a:bodyPr/>
                    <a:lstStyle/>
                    <a:p>
                      <a:pPr algn="ctr"/>
                      <a:r>
                        <a:rPr sz="1600" b="1">
                          <a:solidFill>
                            <a:srgbClr val="FFFFFF"/>
                          </a:solidFill>
                        </a:rPr>
                        <a:t>Not</a:t>
                      </a:r>
                    </a:p>
                  </a:txBody>
                  <a:tcPr>
                    <a:solidFill>
                      <a:srgbClr val="2563EB"/>
                    </a:solidFill>
                  </a:tcPr>
                </a:tc>
              </a:tr>
              <a:tr h="571500">
                <a:tc>
                  <a:txBody>
                    <a:bodyPr/>
                    <a:lstStyle/>
                    <a:p>
                      <a:pPr algn="ctr"/>
                      <a:r>
                        <a:rPr sz="1500" b="0">
                          <a:solidFill>
                            <a:srgbClr val="1E293B"/>
                          </a:solidFill>
                        </a:rPr>
                        <a:t>DBLF baseline</a:t>
                      </a:r>
                    </a:p>
                  </a:txBody>
                  <a:tcPr>
                    <a:solidFill>
                      <a:srgbClr val="FFFFFF"/>
                    </a:solidFill>
                  </a:tcPr>
                </a:tc>
                <a:tc>
                  <a:txBody>
                    <a:bodyPr/>
                    <a:lstStyle/>
                    <a:p>
                      <a:pPr algn="ctr"/>
                      <a:r>
                        <a:rPr sz="1500" b="1">
                          <a:solidFill>
                            <a:srgbClr val="1E293B"/>
                          </a:solidFill>
                        </a:rPr>
                        <a:t>214.5 mm</a:t>
                      </a:r>
                    </a:p>
                  </a:txBody>
                  <a:tcPr>
                    <a:solidFill>
                      <a:srgbClr val="FFFFFF"/>
                    </a:solidFill>
                  </a:tcPr>
                </a:tc>
                <a:tc>
                  <a:txBody>
                    <a:bodyPr/>
                    <a:lstStyle/>
                    <a:p>
                      <a:pPr algn="ctr"/>
                      <a:r>
                        <a:rPr sz="1500" b="0">
                          <a:solidFill>
                            <a:srgbClr val="1E293B"/>
                          </a:solidFill>
                        </a:rPr>
                        <a:t>0.189</a:t>
                      </a:r>
                    </a:p>
                  </a:txBody>
                  <a:tcPr>
                    <a:solidFill>
                      <a:srgbClr val="FFFFFF"/>
                    </a:solidFill>
                  </a:tcPr>
                </a:tc>
                <a:tc>
                  <a:txBody>
                    <a:bodyPr/>
                    <a:lstStyle/>
                    <a:p>
                      <a:pPr algn="ctr"/>
                      <a:r>
                        <a:rPr sz="1500" b="0">
                          <a:solidFill>
                            <a:srgbClr val="1E293B"/>
                          </a:solidFill>
                        </a:rPr>
                        <a:t>—</a:t>
                      </a:r>
                    </a:p>
                  </a:txBody>
                  <a:tcPr>
                    <a:solidFill>
                      <a:srgbClr val="FFFFFF"/>
                    </a:solidFill>
                  </a:tcPr>
                </a:tc>
                <a:tc>
                  <a:txBody>
                    <a:bodyPr/>
                    <a:lstStyle/>
                    <a:p>
                      <a:pPr algn="ctr"/>
                      <a:r>
                        <a:rPr sz="1500" b="0">
                          <a:solidFill>
                            <a:srgbClr val="1E293B"/>
                          </a:solidFill>
                        </a:rPr>
                        <a:t>greedy, hacim-azalan</a:t>
                      </a:r>
                    </a:p>
                  </a:txBody>
                  <a:tcPr>
                    <a:solidFill>
                      <a:srgbClr val="FFFFFF"/>
                    </a:solidFill>
                  </a:tcPr>
                </a:tc>
              </a:tr>
              <a:tr h="571500">
                <a:tc>
                  <a:txBody>
                    <a:bodyPr/>
                    <a:lstStyle/>
                    <a:p>
                      <a:pPr algn="ctr"/>
                      <a:r>
                        <a:rPr sz="1500" b="1">
                          <a:solidFill>
                            <a:srgbClr val="166534"/>
                          </a:solidFill>
                        </a:rPr>
                        <a:t>SA final (2000 iter)</a:t>
                      </a:r>
                    </a:p>
                  </a:txBody>
                  <a:tcPr>
                    <a:solidFill>
                      <a:srgbClr val="DCFCE7"/>
                    </a:solidFill>
                  </a:tcPr>
                </a:tc>
                <a:tc>
                  <a:txBody>
                    <a:bodyPr/>
                    <a:lstStyle/>
                    <a:p>
                      <a:pPr algn="ctr"/>
                      <a:r>
                        <a:rPr sz="1500" b="1">
                          <a:solidFill>
                            <a:srgbClr val="166534"/>
                          </a:solidFill>
                        </a:rPr>
                        <a:t>181.5 mm</a:t>
                      </a:r>
                    </a:p>
                  </a:txBody>
                  <a:tcPr>
                    <a:solidFill>
                      <a:srgbClr val="DCFCE7"/>
                    </a:solidFill>
                  </a:tcPr>
                </a:tc>
                <a:tc>
                  <a:txBody>
                    <a:bodyPr/>
                    <a:lstStyle/>
                    <a:p>
                      <a:pPr algn="ctr"/>
                      <a:r>
                        <a:rPr sz="1500" b="1">
                          <a:solidFill>
                            <a:srgbClr val="166534"/>
                          </a:solidFill>
                        </a:rPr>
                        <a:t>0.229</a:t>
                      </a:r>
                    </a:p>
                  </a:txBody>
                  <a:tcPr>
                    <a:solidFill>
                      <a:srgbClr val="DCFCE7"/>
                    </a:solidFill>
                  </a:tcPr>
                </a:tc>
                <a:tc>
                  <a:txBody>
                    <a:bodyPr/>
                    <a:lstStyle/>
                    <a:p>
                      <a:pPr algn="ctr"/>
                      <a:r>
                        <a:rPr sz="1500" b="1">
                          <a:solidFill>
                            <a:srgbClr val="166534"/>
                          </a:solidFill>
                        </a:rPr>
                        <a:t>1.50 mm ✓</a:t>
                      </a:r>
                    </a:p>
                  </a:txBody>
                  <a:tcPr>
                    <a:solidFill>
                      <a:srgbClr val="DCFCE7"/>
                    </a:solidFill>
                  </a:tcPr>
                </a:tc>
                <a:tc>
                  <a:txBody>
                    <a:bodyPr/>
                    <a:lstStyle/>
                    <a:p>
                      <a:pPr algn="ctr"/>
                      <a:r>
                        <a:rPr sz="1500" b="1">
                          <a:solidFill>
                            <a:srgbClr val="166534"/>
                          </a:solidFill>
                        </a:rPr>
                        <a:t>hibrit poz + sıra araması</a:t>
                      </a:r>
                    </a:p>
                  </a:txBody>
                  <a:tcPr>
                    <a:solidFill>
                      <a:srgbClr val="DCFCE7"/>
                    </a:solidFill>
                  </a:tcPr>
                </a:tc>
              </a:tr>
              <a:tr h="571500">
                <a:tc>
                  <a:txBody>
                    <a:bodyPr/>
                    <a:lstStyle/>
                    <a:p>
                      <a:pPr algn="ctr"/>
                      <a:r>
                        <a:rPr sz="1500" b="0">
                          <a:solidFill>
                            <a:srgbClr val="1E293B"/>
                          </a:solidFill>
                        </a:rPr>
                        <a:t>Önceki 155 mm koşusu</a:t>
                      </a:r>
                    </a:p>
                  </a:txBody>
                  <a:tcPr>
                    <a:solidFill>
                      <a:srgbClr val="FFFFFF"/>
                    </a:solidFill>
                  </a:tcPr>
                </a:tc>
                <a:tc>
                  <a:txBody>
                    <a:bodyPr/>
                    <a:lstStyle/>
                    <a:p>
                      <a:pPr algn="ctr"/>
                      <a:r>
                        <a:rPr sz="1500" b="1">
                          <a:solidFill>
                            <a:srgbClr val="1E293B"/>
                          </a:solidFill>
                        </a:rPr>
                        <a:t>155.0 mm</a:t>
                      </a:r>
                    </a:p>
                  </a:txBody>
                  <a:tcPr>
                    <a:solidFill>
                      <a:srgbClr val="FFFFFF"/>
                    </a:solidFill>
                  </a:tcPr>
                </a:tc>
                <a:tc>
                  <a:txBody>
                    <a:bodyPr/>
                    <a:lstStyle/>
                    <a:p>
                      <a:pPr algn="ctr"/>
                      <a:r>
                        <a:rPr sz="1500" b="0">
                          <a:solidFill>
                            <a:srgbClr val="1E293B"/>
                          </a:solidFill>
                        </a:rPr>
                        <a:t>0.118</a:t>
                      </a:r>
                    </a:p>
                  </a:txBody>
                  <a:tcPr>
                    <a:solidFill>
                      <a:srgbClr val="FFFFFF"/>
                    </a:solidFill>
                  </a:tcPr>
                </a:tc>
                <a:tc>
                  <a:txBody>
                    <a:bodyPr/>
                    <a:lstStyle/>
                    <a:p>
                      <a:pPr algn="ctr"/>
                      <a:r>
                        <a:rPr sz="1500" b="0">
                          <a:solidFill>
                            <a:srgbClr val="B91C1C"/>
                          </a:solidFill>
                        </a:rPr>
                        <a:t>0.77 mm ✗</a:t>
                      </a:r>
                    </a:p>
                  </a:txBody>
                  <a:tcPr>
                    <a:solidFill>
                      <a:srgbClr val="FFFFFF"/>
                    </a:solidFill>
                  </a:tcPr>
                </a:tc>
                <a:tc>
                  <a:txBody>
                    <a:bodyPr/>
                    <a:lstStyle/>
                    <a:p>
                      <a:pPr algn="ctr"/>
                      <a:r>
                        <a:rPr sz="1500" b="0">
                          <a:solidFill>
                            <a:srgbClr val="B91C1C"/>
                          </a:solidFill>
                        </a:rPr>
                        <a:t>350 taban, boşluksuz — GEÇERSİZ</a:t>
                      </a:r>
                    </a:p>
                  </a:txBody>
                  <a:tcPr>
                    <a:solidFill>
                      <a:srgbClr val="FFFFFF"/>
                    </a:solidFill>
                  </a:tcPr>
                </a:tc>
              </a:tr>
            </a:tbl>
          </a:graphicData>
        </a:graphic>
      </p:graphicFrame>
      <p:sp>
        <p:nvSpPr>
          <p:cNvPr id="6" name="Rectangle 5"/>
          <p:cNvSpPr/>
          <p:nvPr/>
        </p:nvSpPr>
        <p:spPr>
          <a:xfrm>
            <a:off x="731520" y="4297680"/>
            <a:ext cx="10698480" cy="914400"/>
          </a:xfrm>
          <a:prstGeom prst="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wrap="square" lIns="203200" tIns="127000"/>
          <a:lstStyle/>
          <a:p>
            <a:pPr algn="ctr"/>
            <a:r>
              <a:rPr sz="2200" b="1">
                <a:solidFill>
                  <a:srgbClr val="166534"/>
                </a:solidFill>
              </a:rPr>
              <a:t>Yeni şartlar altında geçerli en iyi sonuç: 181.5 mm  ·  SA kazancı −33.0 mm  (%15.4)</a:t>
            </a:r>
          </a:p>
        </p:txBody>
      </p:sp>
      <p:sp>
        <p:nvSpPr>
          <p:cNvPr id="7" name="Rectangle 6"/>
          <p:cNvSpPr/>
          <p:nvPr/>
        </p:nvSpPr>
        <p:spPr>
          <a:xfrm>
            <a:off x="731520" y="5440680"/>
            <a:ext cx="10698480" cy="1188720"/>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r>
              <a:rPr sz="1400" b="0">
                <a:solidFill>
                  <a:srgbClr val="1E293B"/>
                </a:solidFill>
              </a:rPr>
              <a:t>Dürüst çerçeve: önceki 155 mm sonucu hem 350 mm tabandaydı hem parça arası boşluk içermiyordu — sonradan ölçtük: 0.77 mm'lik İHLAL vardı. Yeni kurallarla kıyas geçersiz. 170 mm sözlü hedefi bu şartlarda ulaşılamadı; en yakın geçerli sonuç 181.5 mm (kısa plakanın dik boyu ~178 mm yapısal taban oluşturuyor).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Karşılaştırma — Yerleşimler Yan Yana</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umune_comparison.png"/>
          <p:cNvPicPr>
            <a:picLocks noChangeAspect="1"/>
          </p:cNvPicPr>
          <p:nvPr/>
        </p:nvPicPr>
        <p:blipFill>
          <a:blip r:embed="rId2"/>
          <a:stretch>
            <a:fillRect/>
          </a:stretch>
        </p:blipFill>
        <p:spPr>
          <a:xfrm>
            <a:off x="2707995" y="1463040"/>
            <a:ext cx="6775704" cy="52120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SA Yakınsaması — Kazanç Nereden Geldi?</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a3d_convergence_numune.png"/>
          <p:cNvPicPr>
            <a:picLocks noChangeAspect="1"/>
          </p:cNvPicPr>
          <p:nvPr/>
        </p:nvPicPr>
        <p:blipFill>
          <a:blip r:embed="rId2"/>
          <a:stretch>
            <a:fillRect/>
          </a:stretch>
        </p:blipFill>
        <p:spPr>
          <a:xfrm>
            <a:off x="502920" y="1645920"/>
            <a:ext cx="6949440" cy="3909060"/>
          </a:xfrm>
          <a:prstGeom prst="rect">
            <a:avLst/>
          </a:prstGeom>
        </p:spPr>
      </p:pic>
      <p:sp>
        <p:nvSpPr>
          <p:cNvPr id="6" name="TextBox 5"/>
          <p:cNvSpPr txBox="1"/>
          <p:nvPr/>
        </p:nvSpPr>
        <p:spPr>
          <a:xfrm>
            <a:off x="731520" y="5760720"/>
            <a:ext cx="5943600" cy="457200"/>
          </a:xfrm>
          <a:prstGeom prst="rect">
            <a:avLst/>
          </a:prstGeom>
          <a:noFill/>
        </p:spPr>
        <p:txBody>
          <a:bodyPr wrap="none">
            <a:spAutoFit/>
          </a:bodyPr>
          <a:lstStyle/>
          <a:p>
            <a:r>
              <a:rPr sz="1200">
                <a:solidFill>
                  <a:srgbClr val="64748B"/>
                </a:solidFill>
              </a:rPr>
              <a:t>Best-so-far yükseklik / iterasyon — kesikli çizgi DBLF baseline</a:t>
            </a:r>
          </a:p>
        </p:txBody>
      </p:sp>
      <p:sp>
        <p:nvSpPr>
          <p:cNvPr id="7" name="TextBox 6"/>
          <p:cNvSpPr txBox="1"/>
          <p:nvPr/>
        </p:nvSpPr>
        <p:spPr>
          <a:xfrm>
            <a:off x="7680960" y="1828800"/>
            <a:ext cx="4023360" cy="3840480"/>
          </a:xfrm>
          <a:prstGeom prst="rect">
            <a:avLst/>
          </a:prstGeom>
          <a:noFill/>
        </p:spPr>
        <p:txBody>
          <a:bodyPr wrap="square">
            <a:spAutoFit/>
          </a:bodyPr>
          <a:lstStyle/>
          <a:p>
            <a:pPr>
              <a:spcAft>
                <a:spcPts val="1200"/>
              </a:spcAft>
            </a:pPr>
            <a:r>
              <a:rPr sz="2200" b="1">
                <a:solidFill>
                  <a:srgbClr val="059659"/>
                </a:solidFill>
              </a:rPr>
              <a:t>214.5 → 181.5 mm</a:t>
            </a:r>
          </a:p>
          <a:p>
            <a:pPr>
              <a:spcAft>
                <a:spcPts val="1200"/>
              </a:spcAft>
            </a:pPr>
            <a:r>
              <a:rPr sz="1600" b="0">
                <a:solidFill>
                  <a:srgbClr val="1E293B"/>
                </a:solidFill>
              </a:rPr>
              <a:t>•  Kazancın motoru: kısa plakaları dik çevirme + plaka istif sırası hamleleri — SA bunları kabul ede ede tavanı söndürüyor.</a:t>
            </a:r>
          </a:p>
          <a:p>
            <a:pPr>
              <a:spcAft>
                <a:spcPts val="1200"/>
              </a:spcAft>
            </a:pPr>
            <a:r>
              <a:rPr sz="1600" b="0">
                <a:solidFill>
                  <a:srgbClr val="1E293B"/>
                </a:solidFill>
              </a:rPr>
              <a:t>•  Üç seed (42/7/13) → 184.5 / 183.0 / 181.5: bant dar, strateji seed'e dayanıklı.</a:t>
            </a:r>
          </a:p>
          <a:p>
            <a:pPr>
              <a:spcAft>
                <a:spcPts val="1200"/>
              </a:spcAft>
            </a:pPr>
            <a:r>
              <a:rPr sz="1600" b="0">
                <a:solidFill>
                  <a:srgbClr val="1E293B"/>
                </a:solidFill>
              </a:rPr>
              <a:t>•  2000 iterasyon ~93 dk; süre/kalite ayarı --iters ile elimizde.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Kanıt 1 — Parça Arası Boşluk (İç İçe Geçme YOK)</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91640"/>
            <a:ext cx="10698480" cy="4572000"/>
          </a:xfrm>
          <a:prstGeom prst="rect">
            <a:avLst/>
          </a:prstGeom>
          <a:noFill/>
        </p:spPr>
        <p:txBody>
          <a:bodyPr wrap="square">
            <a:spAutoFit/>
          </a:bodyPr>
          <a:lstStyle/>
          <a:p>
            <a:pPr>
              <a:spcAft>
                <a:spcPts val="1200"/>
              </a:spcAft>
            </a:pPr>
            <a:r>
              <a:rPr sz="2000" b="1">
                <a:solidFill>
                  <a:srgbClr val="1E293B"/>
                </a:solidFill>
              </a:rPr>
              <a:t>•  İki katmanlı güvence — önce garanti, sonra ölçüm.</a:t>
            </a:r>
          </a:p>
          <a:p>
            <a:pPr>
              <a:spcAft>
                <a:spcPts val="1200"/>
              </a:spcAft>
            </a:pPr>
            <a:r>
              <a:rPr sz="2000" b="0">
                <a:solidFill>
                  <a:srgbClr val="1E293B"/>
                </a:solidFill>
              </a:rPr>
              <a:t>•  Garanti (voxel modelde): parça yüzeyi örnekleme ile KONSERVATİF sarılır (ince duvar/kabartma kaçmaz), gövde 1 voxel genişletilir, istifte dikey boşluk hücresi eklenir → çakışma matematiksel olarak imkânsız.</a:t>
            </a:r>
          </a:p>
          <a:p>
            <a:pPr>
              <a:spcAft>
                <a:spcPts val="1200"/>
              </a:spcAft>
            </a:pPr>
            <a:r>
              <a:rPr sz="2000" b="1">
                <a:solidFill>
                  <a:srgbClr val="059659"/>
                </a:solidFill>
              </a:rPr>
              <a:t>•  Ölçüm (orijinal geometride): yerleşim sonrası her yakın parça çifti (46 çift) gerçek mesh'ler üzerinde tarandı → min mesafe 1.50 mm (eşik 1.00 mm).</a:t>
            </a:r>
          </a:p>
          <a:p>
            <a:pPr>
              <a:spcAft>
                <a:spcPts val="1200"/>
              </a:spcAft>
            </a:pPr>
            <a:r>
              <a:rPr sz="2000" b="0">
                <a:solidFill>
                  <a:srgbClr val="1E293B"/>
                </a:solidFill>
              </a:rPr>
              <a:t>•  Rapor: results/numune_sa/clearance_numune.json — sayısal, denetlenebilir.</a:t>
            </a:r>
          </a:p>
          <a:p>
            <a:pPr>
              <a:spcAft>
                <a:spcPts val="1200"/>
              </a:spcAft>
            </a:pPr>
            <a:r>
              <a:rPr sz="2000" b="0">
                <a:solidFill>
                  <a:srgbClr val="1E293B"/>
                </a:solidFill>
              </a:rPr>
              <a:t>•  Plakaların 'iç içe' görünmesi: çıkıntılar komşu plakanın delik BOŞLUĞUNA sarkar; yüzeyler hiçbir noktada 1.50 mm'den fazla yaklaşmaz.</a:t>
            </a:r>
          </a:p>
        </p:txBody>
      </p:sp>
      <p:sp>
        <p:nvSpPr>
          <p:cNvPr id="6" name="Rectangle 5"/>
          <p:cNvSpPr/>
          <p:nvPr/>
        </p:nvSpPr>
        <p:spPr>
          <a:xfrm>
            <a:off x="731520" y="5303520"/>
            <a:ext cx="10698480" cy="1005840"/>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r>
              <a:rPr sz="1400" b="0">
                <a:solidFill>
                  <a:srgbClr val="1E293B"/>
                </a:solidFill>
              </a:rPr>
              <a:t>Geçen haftaki 0.77 mm ihlali bu ölçüm aracı yakaladı ve kök neden (voxelization'da ince duvarların kaçması) giderildi. Aynı araç artık her koşunun standart adımı: boşluk iddiası ölçümsüz rapor edilmiyor.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Kanıt 2 — Çözünürlük: Kabartma Yazılar Korunuyor</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91640"/>
            <a:ext cx="10698480" cy="4572000"/>
          </a:xfrm>
          <a:prstGeom prst="rect">
            <a:avLst/>
          </a:prstGeom>
          <a:noFill/>
        </p:spPr>
        <p:txBody>
          <a:bodyPr wrap="square">
            <a:spAutoFit/>
          </a:bodyPr>
          <a:lstStyle/>
          <a:p>
            <a:pPr>
              <a:spcAft>
                <a:spcPts val="1200"/>
              </a:spcAft>
            </a:pPr>
            <a:r>
              <a:rPr sz="2000" b="1">
                <a:solidFill>
                  <a:srgbClr val="1E293B"/>
                </a:solidFill>
              </a:rPr>
              <a:t>•  Mimari: optimizasyon voxel'de çalışır, çıktı ORİJİNAL geometriden üretilir (devoxelization) — iki dünya birbirine karışmaz.</a:t>
            </a:r>
          </a:p>
          <a:p>
            <a:pPr>
              <a:spcAft>
                <a:spcPts val="1200"/>
              </a:spcAft>
            </a:pPr>
            <a:r>
              <a:rPr sz="2000" b="1">
                <a:solidFill>
                  <a:srgbClr val="1E293B"/>
                </a:solidFill>
              </a:rPr>
              <a:t>•  Voxel (1.5 mm) yalnız yerleşim hesabının İÇ aracıdır: 335×335 mm taban 223×223 hücreye bölünür, yükseklik 1.5 mm katmanlara YUKARI yuvarlanır (muhafazakâr). Çıktının çözünürlüğü voxel DEĞİL, orijinal mesh'tir — 'en az 1 mm çözünürlük' şartı çıktıda fazlasıyla aşılır.</a:t>
            </a:r>
          </a:p>
          <a:p>
            <a:pPr>
              <a:spcAft>
                <a:spcPts val="1200"/>
              </a:spcAft>
            </a:pPr>
            <a:r>
              <a:rPr sz="2000" b="1">
                <a:solidFill>
                  <a:srgbClr val="059659"/>
                </a:solidFill>
              </a:rPr>
              <a:t>•  Sayısal kanıt: 48 parçanın orijinal üçgen toplamı 3.950.364 — çıktı STL'sindeki üçgen sayısı 3.950.364. Bire bir; tek üçgen kaybolmuyor.</a:t>
            </a:r>
          </a:p>
          <a:p>
            <a:pPr>
              <a:spcAft>
                <a:spcPts val="1200"/>
              </a:spcAft>
            </a:pPr>
            <a:r>
              <a:rPr sz="2000" b="0">
                <a:solidFill>
                  <a:srgbClr val="1E293B"/>
                </a:solidFill>
              </a:rPr>
              <a:t>•  Kabartma yazılar, delik kenarları, ince detaylar üretim dosyasında tam çözünürlükte: results/numune_sa/nesting3d_result_numune.stl.</a:t>
            </a:r>
          </a:p>
          <a:p>
            <a:pPr>
              <a:spcAft>
                <a:spcPts val="1200"/>
              </a:spcAft>
            </a:pPr>
            <a:r>
              <a:rPr sz="2000" b="0">
                <a:solidFill>
                  <a:srgbClr val="1E293B"/>
                </a:solidFill>
              </a:rPr>
              <a:t>•  Ekrandaki hızlı önizleme (PNG) sadeleştirilmiş kopya kullanır — üretime giden STL'yi ETKİLEMEZ.</a:t>
            </a:r>
          </a:p>
          <a:p>
            <a:pPr>
              <a:spcAft>
                <a:spcPts val="1200"/>
              </a:spcAft>
            </a:pPr>
            <a:r>
              <a:rPr sz="2000" b="0">
                <a:solidFill>
                  <a:srgbClr val="1E293B"/>
                </a:solidFill>
              </a:rPr>
              <a:t>•  Geçen haftaki sorun (yazıların silinmesi) görselleştirme sadeleştirmesinin yanlışlıkla çıktıya uygulanmasıydı — mimari olarak ayrıldı, tekrarı mümkün değil.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Çıktılar ve Kullanıma Hazırlık</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91640"/>
            <a:ext cx="10698480" cy="4572000"/>
          </a:xfrm>
          <a:prstGeom prst="rect">
            <a:avLst/>
          </a:prstGeom>
          <a:noFill/>
        </p:spPr>
        <p:txBody>
          <a:bodyPr wrap="square">
            <a:spAutoFit/>
          </a:bodyPr>
          <a:lstStyle/>
          <a:p>
            <a:pPr>
              <a:spcAft>
                <a:spcPts val="1200"/>
              </a:spcAft>
            </a:pPr>
            <a:r>
              <a:rPr sz="2000" b="1">
                <a:solidFill>
                  <a:srgbClr val="059659"/>
                </a:solidFill>
              </a:rPr>
              <a:t>•  Üretime hazır STL sahnesi: results/numune_sa/nesting3d_result_numune.stl (orijinal çözünürlük) + yerleşim görselleri + clearance raporu (JSON).</a:t>
            </a:r>
          </a:p>
          <a:p>
            <a:pPr>
              <a:spcAft>
                <a:spcPts val="1200"/>
              </a:spcAft>
            </a:pPr>
            <a:r>
              <a:rPr sz="2000" b="0">
                <a:solidFill>
                  <a:srgbClr val="1E293B"/>
                </a:solidFill>
              </a:rPr>
              <a:t>•  Parametrik: taban (--plate), voxel (--pitch), boşluk (--margin), poz stratejisi (--orient), iterasyon (--iters) — makine/kural değişirse aynı gün yeniden koşulur.</a:t>
            </a:r>
          </a:p>
          <a:p>
            <a:pPr>
              <a:spcAft>
                <a:spcPts val="1200"/>
              </a:spcAft>
            </a:pPr>
            <a:r>
              <a:rPr sz="2000" b="0">
                <a:solidFill>
                  <a:srgbClr val="1E293B"/>
                </a:solidFill>
              </a:rPr>
              <a:t>•  Farklı parça setleri: Numuneler/ klasörüne STL koymak + adet yazmak yeterli — pipeline parça-bağımsız.</a:t>
            </a:r>
          </a:p>
          <a:p>
            <a:pPr>
              <a:spcAft>
                <a:spcPts val="1200"/>
              </a:spcAft>
            </a:pPr>
            <a:r>
              <a:rPr sz="2000" b="0">
                <a:solidFill>
                  <a:srgbClr val="1E293B"/>
                </a:solidFill>
              </a:rPr>
              <a:t>•  Doğrulama: 95 birim testi · sabit seed · her koşuda otomatik clearance ölçümü.</a:t>
            </a:r>
          </a:p>
          <a:p>
            <a:pPr>
              <a:spcAft>
                <a:spcPts val="1200"/>
              </a:spcAft>
            </a:pPr>
            <a:r>
              <a:rPr sz="2000" b="0">
                <a:solidFill>
                  <a:srgbClr val="1E293B"/>
                </a:solidFill>
              </a:rPr>
              <a:t>•  Rapor tabloları: results/numune_comparison.md + numune_parts.csv.</a:t>
            </a:r>
          </a:p>
        </p:txBody>
      </p:sp>
      <p:sp>
        <p:nvSpPr>
          <p:cNvPr id="6" name="Rectangle 5"/>
          <p:cNvSpPr/>
          <p:nvPr/>
        </p:nvSpPr>
        <p:spPr>
          <a:xfrm>
            <a:off x="731520" y="5303520"/>
            <a:ext cx="10698480" cy="1005840"/>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r>
              <a:rPr sz="1600" b="0">
                <a:solidFill>
                  <a:srgbClr val="1E293B"/>
                </a:solidFill>
              </a:rPr>
              <a:t>Sıradaki adım önerisi: bu motor, konteyner yerleştirme uygulamasının çekirdeği olmaya hazır — sabit kasa boyutu + çoklu konteyner sarmalayıcı + veri girişi arayüzü ile demo kurulabilir.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914400"/>
          </a:xfrm>
          <a:prstGeom prst="rect">
            <a:avLst/>
          </a:prstGeom>
          <a:noFill/>
        </p:spPr>
        <p:txBody>
          <a:bodyPr wrap="square">
            <a:spAutoFit/>
          </a:bodyPr>
          <a:lstStyle/>
          <a:p>
            <a:r>
              <a:rPr sz="3200" b="1">
                <a:solidFill>
                  <a:srgbClr val="2563EB"/>
                </a:solidFill>
              </a:rPr>
              <a:t>Özet</a:t>
            </a:r>
          </a:p>
        </p:txBody>
      </p:sp>
      <p:sp>
        <p:nvSpPr>
          <p:cNvPr id="4" name="Rectangle 3"/>
          <p:cNvSpPr/>
          <p:nvPr/>
        </p:nvSpPr>
        <p:spPr>
          <a:xfrm>
            <a:off x="658368" y="1325880"/>
            <a:ext cx="6858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91640"/>
            <a:ext cx="10698480" cy="4572000"/>
          </a:xfrm>
          <a:prstGeom prst="rect">
            <a:avLst/>
          </a:prstGeom>
          <a:noFill/>
        </p:spPr>
        <p:txBody>
          <a:bodyPr wrap="square">
            <a:spAutoFit/>
          </a:bodyPr>
          <a:lstStyle/>
          <a:p>
            <a:pPr>
              <a:spcAft>
                <a:spcPts val="1200"/>
              </a:spcAft>
            </a:pPr>
            <a:r>
              <a:rPr sz="2000" b="0">
                <a:solidFill>
                  <a:srgbClr val="1E293B"/>
                </a:solidFill>
              </a:rPr>
              <a:t>•  Makine şartlarıyla (335×335 mm, z ≤ 600 mm, boşluk &gt;= 1 mm (garantili)) 48 parçanın tamamı yerleşti.</a:t>
            </a:r>
          </a:p>
          <a:p>
            <a:pPr>
              <a:spcAft>
                <a:spcPts val="1200"/>
              </a:spcAft>
            </a:pPr>
            <a:r>
              <a:rPr sz="2000" b="1">
                <a:solidFill>
                  <a:srgbClr val="059659"/>
                </a:solidFill>
              </a:rPr>
              <a:t>•  Z yüksekliği: DBLF 214.5 mm → SA 181.5 mm  (−33.0 mm  (%15.4)).</a:t>
            </a:r>
          </a:p>
          <a:p>
            <a:pPr>
              <a:spcAft>
                <a:spcPts val="1200"/>
              </a:spcAft>
            </a:pPr>
            <a:r>
              <a:rPr sz="2000" b="1">
                <a:solidFill>
                  <a:srgbClr val="059659"/>
                </a:solidFill>
              </a:rPr>
              <a:t>•  Parça arası ölçülen min boşluk: 1.50 mm — iç içe geçme/çakışma YOK.</a:t>
            </a:r>
          </a:p>
          <a:p>
            <a:pPr>
              <a:spcAft>
                <a:spcPts val="1200"/>
              </a:spcAft>
            </a:pPr>
            <a:r>
              <a:rPr sz="2000" b="1">
                <a:solidFill>
                  <a:srgbClr val="059659"/>
                </a:solidFill>
              </a:rPr>
              <a:t>•  Çözünürlük: 3.950.364 üçgenin tamamı çıktıda — kabartma yazılar korunuyor.</a:t>
            </a:r>
          </a:p>
          <a:p>
            <a:pPr>
              <a:spcAft>
                <a:spcPts val="1200"/>
              </a:spcAft>
            </a:pPr>
            <a:r>
              <a:rPr sz="2000" b="0">
                <a:solidFill>
                  <a:srgbClr val="1E293B"/>
                </a:solidFill>
              </a:rPr>
              <a:t>•  Önceki 155 mm: farklı taban + boşluksuz + ölçülmüş ihlal → geçersiz kıyas; yeni şartların geçerli en iyisi 181.5 mm.</a:t>
            </a:r>
          </a:p>
          <a:p>
            <a:pPr>
              <a:spcAft>
                <a:spcPts val="1200"/>
              </a:spcAft>
            </a:pPr>
            <a:r>
              <a:rPr sz="2000" b="0">
                <a:solidFill>
                  <a:srgbClr val="1E293B"/>
                </a:solidFill>
              </a:rPr>
              <a:t>•  Tekrar-üretilebilir: 95 test · sabit seed · parametrik CLI · STL hazır.</a:t>
            </a:r>
          </a:p>
        </p:txBody>
      </p:sp>
      <p:sp>
        <p:nvSpPr>
          <p:cNvPr id="6" name="TextBox 5"/>
          <p:cNvSpPr txBox="1"/>
          <p:nvPr/>
        </p:nvSpPr>
        <p:spPr>
          <a:xfrm>
            <a:off x="731520" y="5486400"/>
            <a:ext cx="10698480" cy="914400"/>
          </a:xfrm>
          <a:prstGeom prst="rect">
            <a:avLst/>
          </a:prstGeom>
          <a:noFill/>
        </p:spPr>
        <p:txBody>
          <a:bodyPr wrap="none">
            <a:spAutoFit/>
          </a:bodyPr>
          <a:lstStyle/>
          <a:p>
            <a:r>
              <a:rPr sz="2400" i="1">
                <a:solidFill>
                  <a:srgbClr val="64748B"/>
                </a:solidFill>
              </a:rPr>
              <a:t>Teşekkürler — makine tablası ve kural setinizde birebir doğrulama koşusu yapalım mı?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